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924" r:id="rId1"/>
  </p:sldMasterIdLst>
  <p:notesMasterIdLst>
    <p:notesMasterId r:id="rId7"/>
  </p:notesMasterIdLst>
  <p:handoutMasterIdLst>
    <p:handoutMasterId r:id="rId8"/>
  </p:handoutMasterIdLst>
  <p:sldIdLst>
    <p:sldId id="3496" r:id="rId2"/>
    <p:sldId id="3497" r:id="rId3"/>
    <p:sldId id="3499" r:id="rId4"/>
    <p:sldId id="3500" r:id="rId5"/>
    <p:sldId id="3501" r:id="rId6"/>
  </p:sldIdLst>
  <p:sldSz cx="9906000" cy="6858000" type="A4"/>
  <p:notesSz cx="6807200" cy="99393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000" kern="1200">
        <a:solidFill>
          <a:srgbClr val="000000"/>
        </a:solidFill>
        <a:latin typeface="Century Gothic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000" kern="1200">
        <a:solidFill>
          <a:srgbClr val="000000"/>
        </a:solidFill>
        <a:latin typeface="Century Gothic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000" kern="1200">
        <a:solidFill>
          <a:srgbClr val="000000"/>
        </a:solidFill>
        <a:latin typeface="Century Gothic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000" kern="1200">
        <a:solidFill>
          <a:srgbClr val="000000"/>
        </a:solidFill>
        <a:latin typeface="Century Gothic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000" kern="1200">
        <a:solidFill>
          <a:srgbClr val="000000"/>
        </a:solidFill>
        <a:latin typeface="Century Gothic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1000" kern="1200">
        <a:solidFill>
          <a:srgbClr val="000000"/>
        </a:solidFill>
        <a:latin typeface="Century Gothic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1000" kern="1200">
        <a:solidFill>
          <a:srgbClr val="000000"/>
        </a:solidFill>
        <a:latin typeface="Century Gothic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1000" kern="1200">
        <a:solidFill>
          <a:srgbClr val="000000"/>
        </a:solidFill>
        <a:latin typeface="Century Gothic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1000" kern="1200">
        <a:solidFill>
          <a:srgbClr val="000000"/>
        </a:solidFill>
        <a:latin typeface="Century Gothic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orient="horz" pos="4065">
          <p15:clr>
            <a:srgbClr val="A4A3A4"/>
          </p15:clr>
        </p15:guide>
        <p15:guide id="3" orient="horz" pos="482">
          <p15:clr>
            <a:srgbClr val="A4A3A4"/>
          </p15:clr>
        </p15:guide>
        <p15:guide id="4" orient="horz" pos="618">
          <p15:clr>
            <a:srgbClr val="A4A3A4"/>
          </p15:clr>
        </p15:guide>
        <p15:guide id="5" orient="horz" pos="663">
          <p15:clr>
            <a:srgbClr val="A4A3A4"/>
          </p15:clr>
        </p15:guide>
        <p15:guide id="6" pos="1215">
          <p15:clr>
            <a:srgbClr val="A4A3A4"/>
          </p15:clr>
        </p15:guide>
        <p15:guide id="7" pos="6023">
          <p15:clr>
            <a:srgbClr val="A4A3A4"/>
          </p15:clr>
        </p15:guide>
        <p15:guide id="8" pos="1260">
          <p15:clr>
            <a:srgbClr val="A4A3A4"/>
          </p15:clr>
        </p15:guide>
        <p15:guide id="9" pos="26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33CC33"/>
    <a:srgbClr val="FFFFCC"/>
    <a:srgbClr val="CCFFCC"/>
    <a:srgbClr val="FFFF66"/>
    <a:srgbClr val="99CC00"/>
    <a:srgbClr val="006600"/>
    <a:srgbClr val="CCFFFF"/>
    <a:srgbClr val="66FFFF"/>
    <a:srgbClr val="FFE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0" autoAdjust="0"/>
    <p:restoredTop sz="86303" autoAdjust="0"/>
  </p:normalViewPr>
  <p:slideViewPr>
    <p:cSldViewPr snapToObjects="1">
      <p:cViewPr varScale="1">
        <p:scale>
          <a:sx n="88" d="100"/>
          <a:sy n="88" d="100"/>
        </p:scale>
        <p:origin x="270" y="96"/>
      </p:cViewPr>
      <p:guideLst>
        <p:guide orient="horz"/>
        <p:guide orient="horz" pos="4065"/>
        <p:guide orient="horz" pos="482"/>
        <p:guide orient="horz" pos="618"/>
        <p:guide orient="horz" pos="663"/>
        <p:guide pos="1215"/>
        <p:guide pos="6023"/>
        <p:guide pos="1260"/>
        <p:guide pos="262"/>
      </p:guideLst>
    </p:cSldViewPr>
  </p:slideViewPr>
  <p:outlineViewPr>
    <p:cViewPr>
      <p:scale>
        <a:sx n="33" d="100"/>
        <a:sy n="33" d="100"/>
      </p:scale>
      <p:origin x="0" y="382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Objects="1">
      <p:cViewPr varScale="1">
        <p:scale>
          <a:sx n="58" d="100"/>
          <a:sy n="58" d="100"/>
        </p:scale>
        <p:origin x="-3456" y="-96"/>
      </p:cViewPr>
      <p:guideLst>
        <p:guide orient="horz" pos="3131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7"/>
            <a:ext cx="2951163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49" tIns="44774" rIns="89549" bIns="44774" numCol="1" anchor="t" anchorCtr="0" compatLnSpc="1">
            <a:prstTxWarp prst="textNoShape">
              <a:avLst/>
            </a:prstTxWarp>
          </a:bodyPr>
          <a:lstStyle>
            <a:lvl1pPr algn="l" defTabSz="895508" eaLnBrk="1" latinLnBrk="1" hangingPunct="1">
              <a:lnSpc>
                <a:spcPct val="100000"/>
              </a:lnSpc>
              <a:spcBef>
                <a:spcPct val="0"/>
              </a:spcBef>
              <a:defRPr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6038" y="7"/>
            <a:ext cx="2951162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49" tIns="44774" rIns="89549" bIns="44774" numCol="1" anchor="t" anchorCtr="0" compatLnSpc="1">
            <a:prstTxWarp prst="textNoShape">
              <a:avLst/>
            </a:prstTxWarp>
          </a:bodyPr>
          <a:lstStyle>
            <a:lvl1pPr algn="r" defTabSz="895508" eaLnBrk="1" latinLnBrk="1" hangingPunct="1">
              <a:lnSpc>
                <a:spcPct val="100000"/>
              </a:lnSpc>
              <a:spcBef>
                <a:spcPct val="0"/>
              </a:spcBef>
              <a:defRPr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65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9440871"/>
            <a:ext cx="2951163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49" tIns="44774" rIns="89549" bIns="44774" numCol="1" anchor="b" anchorCtr="0" compatLnSpc="1">
            <a:prstTxWarp prst="textNoShape">
              <a:avLst/>
            </a:prstTxWarp>
          </a:bodyPr>
          <a:lstStyle>
            <a:lvl1pPr algn="l" defTabSz="895508" eaLnBrk="1" latinLnBrk="1" hangingPunct="1">
              <a:lnSpc>
                <a:spcPct val="100000"/>
              </a:lnSpc>
              <a:spcBef>
                <a:spcPct val="0"/>
              </a:spcBef>
              <a:defRPr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65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6038" y="9440871"/>
            <a:ext cx="2951162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49" tIns="44774" rIns="89549" bIns="44774" numCol="1" anchor="b" anchorCtr="0" compatLnSpc="1">
            <a:prstTxWarp prst="textNoShape">
              <a:avLst/>
            </a:prstTxWarp>
          </a:bodyPr>
          <a:lstStyle>
            <a:lvl1pPr algn="r" defTabSz="895508" eaLnBrk="1" latinLnBrk="1" hangingPunct="1">
              <a:lnSpc>
                <a:spcPct val="100000"/>
              </a:lnSpc>
              <a:spcBef>
                <a:spcPct val="0"/>
              </a:spcBef>
              <a:defRPr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338878A3-376D-4839-AFAD-6B5067A8B1C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266754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0"/>
            <a:ext cx="2917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61" tIns="44779" rIns="89561" bIns="44779" numCol="1" anchor="t" anchorCtr="0" compatLnSpc="1">
            <a:prstTxWarp prst="textNoShape">
              <a:avLst/>
            </a:prstTxWarp>
          </a:bodyPr>
          <a:lstStyle>
            <a:lvl1pPr algn="l" defTabSz="895508" eaLnBrk="1" latinLnBrk="1" hangingPunct="1">
              <a:lnSpc>
                <a:spcPct val="100000"/>
              </a:lnSpc>
              <a:spcBef>
                <a:spcPct val="0"/>
              </a:spcBef>
              <a:defRPr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942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38579" y="0"/>
            <a:ext cx="299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61" tIns="44779" rIns="89561" bIns="44779" numCol="1" anchor="t" anchorCtr="0" compatLnSpc="1">
            <a:prstTxWarp prst="textNoShape">
              <a:avLst/>
            </a:prstTxWarp>
          </a:bodyPr>
          <a:lstStyle>
            <a:lvl1pPr algn="r" defTabSz="895508" eaLnBrk="1" latinLnBrk="1" hangingPunct="1">
              <a:lnSpc>
                <a:spcPct val="100000"/>
              </a:lnSpc>
              <a:spcBef>
                <a:spcPct val="0"/>
              </a:spcBef>
              <a:defRPr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49300" y="762000"/>
            <a:ext cx="5330825" cy="36909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42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3929" y="4760913"/>
            <a:ext cx="4989513" cy="445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61" tIns="44779" rIns="89561" bIns="4477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942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9440863"/>
            <a:ext cx="29178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61" tIns="44779" rIns="89561" bIns="44779" numCol="1" anchor="b" anchorCtr="0" compatLnSpc="1">
            <a:prstTxWarp prst="textNoShape">
              <a:avLst/>
            </a:prstTxWarp>
          </a:bodyPr>
          <a:lstStyle>
            <a:lvl1pPr algn="l" defTabSz="895508" eaLnBrk="1" latinLnBrk="1" hangingPunct="1">
              <a:lnSpc>
                <a:spcPct val="100000"/>
              </a:lnSpc>
              <a:spcBef>
                <a:spcPct val="0"/>
              </a:spcBef>
              <a:defRPr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942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38579" y="9440863"/>
            <a:ext cx="29956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61" tIns="44779" rIns="89561" bIns="44779" numCol="1" anchor="b" anchorCtr="0" compatLnSpc="1">
            <a:prstTxWarp prst="textNoShape">
              <a:avLst/>
            </a:prstTxWarp>
          </a:bodyPr>
          <a:lstStyle>
            <a:lvl1pPr algn="r" defTabSz="895508" eaLnBrk="1" latinLnBrk="1" hangingPunct="1">
              <a:lnSpc>
                <a:spcPct val="100000"/>
              </a:lnSpc>
              <a:spcBef>
                <a:spcPct val="0"/>
              </a:spcBef>
              <a:defRPr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F31FCCA-1E47-432D-9574-A2A32471DD5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368397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F31FCCA-1E47-432D-9574-A2A32471DD5A}" type="slidenum">
              <a:rPr lang="en-US" altLang="ko-KR" smtClean="0"/>
              <a:pPr>
                <a:defRPr/>
              </a:pPr>
              <a:t>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996088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F31FCCA-1E47-432D-9574-A2A32471DD5A}" type="slidenum">
              <a:rPr lang="en-US" altLang="ko-KR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79317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F31FCCA-1E47-432D-9574-A2A32471DD5A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69549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F31FCCA-1E47-432D-9574-A2A32471DD5A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36609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F31FCCA-1E47-432D-9574-A2A32471DD5A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09256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1" y="620688"/>
            <a:ext cx="9361040" cy="355482"/>
          </a:xfrm>
        </p:spPr>
        <p:txBody>
          <a:bodyPr wrap="square">
            <a:spAutoFit/>
          </a:bodyPr>
          <a:lstStyle>
            <a:lvl1pPr>
              <a:defRPr sz="15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8589" y="44450"/>
            <a:ext cx="8784852" cy="533400"/>
          </a:xfrm>
        </p:spPr>
        <p:txBody>
          <a:bodyPr/>
          <a:lstStyle>
            <a:lvl1pPr>
              <a:defRPr sz="2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94416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01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/>
          <p:cNvSpPr>
            <a:spLocks noGrp="1"/>
          </p:cNvSpPr>
          <p:nvPr>
            <p:ph type="body" sz="quarter" idx="12"/>
          </p:nvPr>
        </p:nvSpPr>
        <p:spPr>
          <a:xfrm>
            <a:off x="272480" y="665292"/>
            <a:ext cx="9361040" cy="353943"/>
          </a:xfrm>
          <a:prstGeom prst="rect">
            <a:avLst/>
          </a:prstGeom>
        </p:spPr>
        <p:txBody>
          <a:bodyPr>
            <a:spAutoFit/>
          </a:bodyPr>
          <a:lstStyle>
            <a:lvl1pPr marL="0" indent="0" eaLnBrk="1" latinLnBrk="0" hangingPunct="1">
              <a:buFontTx/>
              <a:buNone/>
              <a:defRPr lang="ko-KR" altLang="en-US" sz="1700" b="1" dirty="0">
                <a:latin typeface="Arial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3"/>
          </p:nvPr>
        </p:nvSpPr>
        <p:spPr>
          <a:xfrm>
            <a:off x="273893" y="104818"/>
            <a:ext cx="184731" cy="400110"/>
          </a:xfrm>
          <a:prstGeom prst="rect">
            <a:avLst/>
          </a:prstGeom>
        </p:spPr>
        <p:txBody>
          <a:bodyPr wrap="none" anchor="ctr">
            <a:spAutoFit/>
          </a:bodyPr>
          <a:lstStyle>
            <a:lvl1pPr marL="0" indent="0">
              <a:buFontTx/>
              <a:buNone/>
              <a:defRPr lang="ko-KR" altLang="en-US" sz="2000" b="1" dirty="0">
                <a:latin typeface="Arial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4" name="텍스트 개체 틀 12"/>
          <p:cNvSpPr>
            <a:spLocks noGrp="1"/>
          </p:cNvSpPr>
          <p:nvPr>
            <p:ph type="body" sz="quarter" idx="14"/>
          </p:nvPr>
        </p:nvSpPr>
        <p:spPr>
          <a:xfrm>
            <a:off x="9448789" y="165828"/>
            <a:ext cx="184731" cy="338554"/>
          </a:xfrm>
          <a:prstGeom prst="rect">
            <a:avLst/>
          </a:prstGeom>
        </p:spPr>
        <p:txBody>
          <a:bodyPr wrap="none" anchor="ctr">
            <a:spAutoFit/>
          </a:bodyPr>
          <a:lstStyle>
            <a:lvl1pPr marL="0" indent="0" algn="r">
              <a:buFontTx/>
              <a:buNone/>
              <a:defRPr lang="ko-KR" altLang="en-US" sz="1600" b="1" dirty="0">
                <a:latin typeface="Arial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1113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2480" y="548680"/>
            <a:ext cx="9360470" cy="355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8588" y="44450"/>
            <a:ext cx="87852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Line 14"/>
          <p:cNvSpPr>
            <a:spLocks noChangeShapeType="1"/>
          </p:cNvSpPr>
          <p:nvPr userDrawn="1"/>
        </p:nvSpPr>
        <p:spPr bwMode="auto">
          <a:xfrm>
            <a:off x="0" y="534988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4656138" y="6524625"/>
            <a:ext cx="575799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fld id="{C3544E17-0DF7-4738-91CA-FA8B6FD792C3}" type="slidenum">
              <a:rPr lang="en-US" altLang="ko-KR" sz="1050">
                <a:latin typeface="맑은 고딕" pitchFamily="50" charset="-127"/>
                <a:ea typeface="맑은 고딕" pitchFamily="50" charset="-127"/>
              </a:rPr>
              <a:pPr>
                <a:defRPr/>
              </a:pPr>
              <a:t>‹#›</a:t>
            </a:fld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 / 2</a:t>
            </a:r>
            <a:endParaRPr lang="ko-KR" altLang="en-US" sz="10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직사각형 5"/>
          <p:cNvSpPr/>
          <p:nvPr userDrawn="1"/>
        </p:nvSpPr>
        <p:spPr>
          <a:xfrm>
            <a:off x="8337376" y="6513470"/>
            <a:ext cx="1468437" cy="2762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200" dirty="0">
                <a:solidFill>
                  <a:srgbClr val="FFFFFF">
                    <a:lumMod val="75000"/>
                  </a:srgbClr>
                </a:solidFill>
              </a:rPr>
              <a:t>LGE Confidential</a:t>
            </a:r>
            <a:endParaRPr lang="ko-KR" altLang="en-US" sz="1200" dirty="0">
              <a:solidFill>
                <a:srgbClr val="FFFFFF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491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9pPr>
    </p:titleStyle>
    <p:bodyStyle>
      <a:lvl1pPr marL="0" indent="0" algn="l" rtl="0" eaLnBrk="0" fontAlgn="base" hangingPunct="0">
        <a:lnSpc>
          <a:spcPct val="114000"/>
        </a:lnSpc>
        <a:spcBef>
          <a:spcPts val="0"/>
        </a:spcBef>
        <a:spcAft>
          <a:spcPts val="600"/>
        </a:spcAft>
        <a:defRPr kumimoji="1" sz="15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539750" indent="-177800" algn="l" rtl="0" eaLnBrk="0" fontAlgn="base" latinLnBrk="1" hangingPunct="0">
        <a:spcBef>
          <a:spcPct val="40000"/>
        </a:spcBef>
        <a:spcAft>
          <a:spcPct val="0"/>
        </a:spcAft>
        <a:buChar char="–"/>
        <a:defRPr kumimoji="1" sz="12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marL="896938" indent="-177800" algn="l" rtl="0" eaLnBrk="0" fontAlgn="base" latinLnBrk="1" hangingPunct="0">
        <a:spcBef>
          <a:spcPct val="40000"/>
        </a:spcBef>
        <a:spcAft>
          <a:spcPct val="0"/>
        </a:spcAft>
        <a:buChar char="•"/>
        <a:defRPr kumimoji="1" sz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marL="1254125" indent="-177800" algn="l" rtl="0" eaLnBrk="0" fontAlgn="base" latinLnBrk="1" hangingPunct="0">
        <a:spcBef>
          <a:spcPct val="40000"/>
        </a:spcBef>
        <a:spcAft>
          <a:spcPct val="0"/>
        </a:spcAft>
        <a:buChar char="–"/>
        <a:defRPr kumimoji="1" sz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marL="1611313" indent="-177800" algn="l" rtl="0" eaLnBrk="0" fontAlgn="base" latinLnBrk="1" hangingPunct="0">
        <a:spcBef>
          <a:spcPct val="4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2068513" indent="-177800" algn="l" rtl="0" fontAlgn="base" latinLnBrk="1">
        <a:spcBef>
          <a:spcPct val="4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6pPr>
      <a:lvl7pPr marL="2525713" indent="-177800" algn="l" rtl="0" fontAlgn="base" latinLnBrk="1">
        <a:spcBef>
          <a:spcPct val="4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7pPr>
      <a:lvl8pPr marL="2982913" indent="-177800" algn="l" rtl="0" fontAlgn="base" latinLnBrk="1">
        <a:spcBef>
          <a:spcPct val="4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8pPr>
      <a:lvl9pPr marL="3440113" indent="-177800" algn="l" rtl="0" fontAlgn="base" latinLnBrk="1">
        <a:spcBef>
          <a:spcPct val="4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774" y="2206340"/>
            <a:ext cx="2486372" cy="2410161"/>
          </a:xfrm>
          <a:prstGeom prst="rect">
            <a:avLst/>
          </a:prstGeom>
        </p:spPr>
      </p:pic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altLang="ko-KR" dirty="0" err="1" smtClean="0"/>
              <a:t>Lgepr</a:t>
            </a:r>
            <a:r>
              <a:rPr lang="es-PE" altLang="ko-KR" dirty="0" smtClean="0"/>
              <a:t> </a:t>
            </a:r>
            <a:r>
              <a:rPr lang="es-PE" altLang="ko-KR" dirty="0" err="1" smtClean="0"/>
              <a:t>Sovos</a:t>
            </a:r>
            <a:r>
              <a:rPr lang="es-PE" altLang="ko-KR" dirty="0" smtClean="0"/>
              <a:t> </a:t>
            </a:r>
            <a:r>
              <a:rPr lang="es-PE" altLang="ko-KR" dirty="0" err="1" smtClean="0"/>
              <a:t>Invoice</a:t>
            </a:r>
            <a:endParaRPr lang="ko-KR" altLang="en-US" dirty="0"/>
          </a:p>
        </p:txBody>
      </p:sp>
      <p:sp>
        <p:nvSpPr>
          <p:cNvPr id="33" name="모서리가 둥근 직사각형 32"/>
          <p:cNvSpPr/>
          <p:nvPr/>
        </p:nvSpPr>
        <p:spPr bwMode="auto">
          <a:xfrm>
            <a:off x="85061" y="908720"/>
            <a:ext cx="6884163" cy="5566706"/>
          </a:xfrm>
          <a:prstGeom prst="roundRect">
            <a:avLst>
              <a:gd name="adj" fmla="val 1576"/>
            </a:avLst>
          </a:prstGeom>
          <a:noFill/>
          <a:ln w="31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ko-KR" altLang="en-US" sz="1400">
              <a:solidFill>
                <a:srgbClr val="3333CC"/>
              </a:solidFill>
              <a:ea typeface="돋움" pitchFamily="50" charset="-127"/>
            </a:endParaRPr>
          </a:p>
        </p:txBody>
      </p:sp>
      <p:sp>
        <p:nvSpPr>
          <p:cNvPr id="16" name="모서리가 둥근 직사각형 60"/>
          <p:cNvSpPr/>
          <p:nvPr/>
        </p:nvSpPr>
        <p:spPr bwMode="auto">
          <a:xfrm>
            <a:off x="7019770" y="908720"/>
            <a:ext cx="2816109" cy="5570984"/>
          </a:xfrm>
          <a:prstGeom prst="roundRect">
            <a:avLst>
              <a:gd name="adj" fmla="val 1576"/>
            </a:avLst>
          </a:prstGeom>
          <a:noFill/>
          <a:ln w="31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ko-KR" altLang="en-US" sz="1400">
              <a:solidFill>
                <a:srgbClr val="3333CC"/>
              </a:solidFill>
              <a:ea typeface="돋움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5427" y="3031090"/>
            <a:ext cx="2816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b="1" dirty="0" smtClean="0">
                <a:latin typeface="맑은 고딕" pitchFamily="50" charset="-127"/>
                <a:ea typeface="맑은 고딕" pitchFamily="50" charset="-127"/>
              </a:rPr>
              <a:t>LGEPR </a:t>
            </a:r>
            <a:r>
              <a:rPr lang="es-PE" sz="1200" b="1" dirty="0" err="1" smtClean="0">
                <a:latin typeface="맑은 고딕" pitchFamily="50" charset="-127"/>
                <a:ea typeface="맑은 고딕" pitchFamily="50" charset="-127"/>
              </a:rPr>
              <a:t>Sovos</a:t>
            </a:r>
            <a:r>
              <a:rPr lang="es-PE" sz="1200" b="1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s-PE" sz="1200" b="1" dirty="0" err="1" smtClean="0">
                <a:latin typeface="맑은 고딕" pitchFamily="50" charset="-127"/>
                <a:ea typeface="맑은 고딕" pitchFamily="50" charset="-127"/>
              </a:rPr>
              <a:t>Invoice</a:t>
            </a:r>
            <a:endParaRPr lang="es-PE" sz="1200" b="1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1. Seleccionar esta opción para abrir el módulo de </a:t>
            </a:r>
            <a:r>
              <a:rPr lang="es-PE" sz="1200" dirty="0" err="1" smtClean="0">
                <a:latin typeface="맑은 고딕" pitchFamily="50" charset="-127"/>
                <a:ea typeface="맑은 고딕" pitchFamily="50" charset="-127"/>
              </a:rPr>
              <a:t>scm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s-PE" sz="1200" dirty="0" err="1" smtClean="0">
                <a:latin typeface="맑은 고딕" pitchFamily="50" charset="-127"/>
                <a:ea typeface="맑은 고딕" pitchFamily="50" charset="-127"/>
              </a:rPr>
              <a:t>sovos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.</a:t>
            </a:r>
            <a:endParaRPr lang="es-PE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Rounded Rectangle 29"/>
          <p:cNvSpPr/>
          <p:nvPr/>
        </p:nvSpPr>
        <p:spPr bwMode="auto">
          <a:xfrm>
            <a:off x="776537" y="4293096"/>
            <a:ext cx="1440160" cy="24133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entury Gothic" pitchFamily="34" charset="0"/>
              <a:ea typeface="굴림" pitchFamily="50" charset="-127"/>
            </a:endParaRPr>
          </a:p>
        </p:txBody>
      </p:sp>
      <p:sp>
        <p:nvSpPr>
          <p:cNvPr id="42" name="타원 73"/>
          <p:cNvSpPr/>
          <p:nvPr/>
        </p:nvSpPr>
        <p:spPr>
          <a:xfrm>
            <a:off x="3407570" y="4287321"/>
            <a:ext cx="311790" cy="247105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1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3" name="Straight Arrow Connector 12"/>
          <p:cNvCxnSpPr>
            <a:stCxn id="30" idx="3"/>
            <a:endCxn id="42" idx="2"/>
          </p:cNvCxnSpPr>
          <p:nvPr/>
        </p:nvCxnSpPr>
        <p:spPr bwMode="auto">
          <a:xfrm flipV="1">
            <a:off x="2216697" y="4410874"/>
            <a:ext cx="1190873" cy="2887"/>
          </a:xfrm>
          <a:prstGeom prst="straightConnector1">
            <a:avLst/>
          </a:prstGeom>
          <a:solidFill>
            <a:srgbClr val="FFFFFF"/>
          </a:solidFill>
          <a:ln w="317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329128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406" y="970762"/>
            <a:ext cx="4392857" cy="5442621"/>
          </a:xfrm>
          <a:prstGeom prst="rect">
            <a:avLst/>
          </a:prstGeom>
        </p:spPr>
      </p:pic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altLang="ko-KR" dirty="0" err="1"/>
              <a:t>Lgepr</a:t>
            </a:r>
            <a:r>
              <a:rPr lang="es-PE" altLang="ko-KR" dirty="0"/>
              <a:t> </a:t>
            </a:r>
            <a:r>
              <a:rPr lang="es-PE" altLang="ko-KR" dirty="0" err="1"/>
              <a:t>Sovos</a:t>
            </a:r>
            <a:r>
              <a:rPr lang="es-PE" altLang="ko-KR" dirty="0"/>
              <a:t> </a:t>
            </a:r>
            <a:r>
              <a:rPr lang="es-PE" altLang="ko-KR" dirty="0" err="1"/>
              <a:t>Invoice</a:t>
            </a:r>
            <a:endParaRPr lang="ko-KR" altLang="en-US" dirty="0"/>
          </a:p>
        </p:txBody>
      </p:sp>
      <p:sp>
        <p:nvSpPr>
          <p:cNvPr id="33" name="모서리가 둥근 직사각형 32"/>
          <p:cNvSpPr/>
          <p:nvPr/>
        </p:nvSpPr>
        <p:spPr bwMode="auto">
          <a:xfrm>
            <a:off x="85061" y="908720"/>
            <a:ext cx="6452115" cy="5566706"/>
          </a:xfrm>
          <a:prstGeom prst="roundRect">
            <a:avLst>
              <a:gd name="adj" fmla="val 1576"/>
            </a:avLst>
          </a:prstGeom>
          <a:noFill/>
          <a:ln w="31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ko-KR" altLang="en-US" sz="1400">
              <a:solidFill>
                <a:srgbClr val="3333CC"/>
              </a:solidFill>
              <a:ea typeface="돋움" pitchFamily="50" charset="-127"/>
            </a:endParaRPr>
          </a:p>
        </p:txBody>
      </p:sp>
      <p:sp>
        <p:nvSpPr>
          <p:cNvPr id="16" name="모서리가 둥근 직사각형 60"/>
          <p:cNvSpPr/>
          <p:nvPr/>
        </p:nvSpPr>
        <p:spPr bwMode="auto">
          <a:xfrm>
            <a:off x="6681192" y="908720"/>
            <a:ext cx="3154688" cy="5570984"/>
          </a:xfrm>
          <a:prstGeom prst="roundRect">
            <a:avLst>
              <a:gd name="adj" fmla="val 1576"/>
            </a:avLst>
          </a:prstGeom>
          <a:noFill/>
          <a:ln w="31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ko-KR" altLang="en-US" sz="1400">
              <a:solidFill>
                <a:srgbClr val="3333CC"/>
              </a:solidFill>
              <a:ea typeface="돋움" pitchFamily="50" charset="-127"/>
            </a:endParaRPr>
          </a:p>
        </p:txBody>
      </p:sp>
      <p:sp>
        <p:nvSpPr>
          <p:cNvPr id="17" name="타원 73"/>
          <p:cNvSpPr/>
          <p:nvPr/>
        </p:nvSpPr>
        <p:spPr>
          <a:xfrm>
            <a:off x="854907" y="1616527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1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53200" y="1724615"/>
            <a:ext cx="31024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b="1" dirty="0">
                <a:latin typeface="맑은 고딕" pitchFamily="50" charset="-127"/>
                <a:ea typeface="맑은 고딕" pitchFamily="50" charset="-127"/>
              </a:rPr>
              <a:t>LGEPR </a:t>
            </a:r>
            <a:r>
              <a:rPr lang="es-PE" sz="1200" b="1" dirty="0" err="1">
                <a:latin typeface="맑은 고딕" pitchFamily="50" charset="-127"/>
                <a:ea typeface="맑은 고딕" pitchFamily="50" charset="-127"/>
              </a:rPr>
              <a:t>Sovos</a:t>
            </a:r>
            <a:r>
              <a:rPr lang="es-PE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s-PE" sz="1200" b="1" dirty="0" err="1">
                <a:latin typeface="맑은 고딕" pitchFamily="50" charset="-127"/>
                <a:ea typeface="맑은 고딕" pitchFamily="50" charset="-127"/>
              </a:rPr>
              <a:t>Invoice</a:t>
            </a:r>
            <a:r>
              <a:rPr lang="es-PE" sz="1200" b="1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s-PE" sz="1200" b="1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Formulario para búsqueda individual.</a:t>
            </a:r>
            <a:endParaRPr lang="es-PE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 typeface="+mj-lt"/>
              <a:buAutoNum type="arabicPeriod"/>
            </a:pP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Selector de tipo de documento a buscar dentro de 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SOVOS.</a:t>
            </a:r>
            <a:endParaRPr lang="es-PE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 typeface="+mj-lt"/>
              <a:buAutoNum type="arabicPeriod"/>
            </a:pP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Escribir el número de documento que necesites descargar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Se muestra el </a:t>
            </a:r>
            <a:r>
              <a:rPr lang="es-PE" sz="1200" dirty="0" err="1" smtClean="0">
                <a:latin typeface="맑은 고딕" pitchFamily="50" charset="-127"/>
                <a:ea typeface="맑은 고딕" pitchFamily="50" charset="-127"/>
              </a:rPr>
              <a:t>url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 del archivo PDF.</a:t>
            </a:r>
          </a:p>
          <a:p>
            <a:pPr marL="228600" indent="-228600">
              <a:buFont typeface="+mj-lt"/>
              <a:buAutoNum type="arabicPeriod"/>
            </a:pP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Se muestra el </a:t>
            </a:r>
            <a:r>
              <a:rPr lang="es-PE" sz="1200" dirty="0" err="1" smtClean="0">
                <a:latin typeface="맑은 고딕" pitchFamily="50" charset="-127"/>
                <a:ea typeface="맑은 고딕" pitchFamily="50" charset="-127"/>
              </a:rPr>
              <a:t>url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 del archivo XML</a:t>
            </a:r>
          </a:p>
          <a:p>
            <a:pPr marL="228600" indent="-228600">
              <a:buFont typeface="+mj-lt"/>
              <a:buAutoNum type="arabicPeriod"/>
            </a:pP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Una vez seleccione el tipo de documento y escrito el número, dar </a:t>
            </a:r>
            <a:r>
              <a:rPr lang="es-PE" sz="1200" dirty="0" err="1" smtClean="0">
                <a:latin typeface="맑은 고딕" pitchFamily="50" charset="-127"/>
                <a:ea typeface="맑은 고딕" pitchFamily="50" charset="-127"/>
              </a:rPr>
              <a:t>click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 en </a:t>
            </a:r>
            <a:r>
              <a:rPr lang="es-PE" sz="1200" dirty="0" err="1" smtClean="0">
                <a:latin typeface="맑은 고딕" pitchFamily="50" charset="-127"/>
                <a:ea typeface="맑은 고딕" pitchFamily="50" charset="-127"/>
              </a:rPr>
              <a:t>find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s-PE" sz="1200" dirty="0" err="1" smtClean="0">
                <a:latin typeface="맑은 고딕" pitchFamily="50" charset="-127"/>
                <a:ea typeface="맑은 고딕" pitchFamily="50" charset="-127"/>
              </a:rPr>
              <a:t>document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 para buscar el archivo solicitado.</a:t>
            </a:r>
            <a:endParaRPr lang="es-PE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타원 73"/>
          <p:cNvSpPr/>
          <p:nvPr/>
        </p:nvSpPr>
        <p:spPr>
          <a:xfrm>
            <a:off x="854907" y="3842422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2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타원 73"/>
          <p:cNvSpPr/>
          <p:nvPr/>
        </p:nvSpPr>
        <p:spPr>
          <a:xfrm>
            <a:off x="854906" y="4797152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3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타원 73"/>
          <p:cNvSpPr/>
          <p:nvPr/>
        </p:nvSpPr>
        <p:spPr>
          <a:xfrm>
            <a:off x="854905" y="5461192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4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7260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784" y="1175033"/>
            <a:ext cx="3276961" cy="210612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825" y="3503790"/>
            <a:ext cx="4934639" cy="2267266"/>
          </a:xfrm>
          <a:prstGeom prst="rect">
            <a:avLst/>
          </a:prstGeom>
        </p:spPr>
      </p:pic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altLang="ko-KR" dirty="0" err="1"/>
              <a:t>Lgepr</a:t>
            </a:r>
            <a:r>
              <a:rPr lang="es-PE" altLang="ko-KR" dirty="0"/>
              <a:t> </a:t>
            </a:r>
            <a:r>
              <a:rPr lang="es-PE" altLang="ko-KR" dirty="0" err="1"/>
              <a:t>Sovos</a:t>
            </a:r>
            <a:r>
              <a:rPr lang="es-PE" altLang="ko-KR" dirty="0"/>
              <a:t> </a:t>
            </a:r>
            <a:r>
              <a:rPr lang="es-PE" altLang="ko-KR" dirty="0" err="1"/>
              <a:t>Invoice</a:t>
            </a:r>
            <a:endParaRPr lang="ko-KR" altLang="en-US" dirty="0"/>
          </a:p>
        </p:txBody>
      </p:sp>
      <p:sp>
        <p:nvSpPr>
          <p:cNvPr id="33" name="모서리가 둥근 직사각형 32"/>
          <p:cNvSpPr/>
          <p:nvPr/>
        </p:nvSpPr>
        <p:spPr bwMode="auto">
          <a:xfrm>
            <a:off x="85061" y="908720"/>
            <a:ext cx="6308099" cy="5566706"/>
          </a:xfrm>
          <a:prstGeom prst="roundRect">
            <a:avLst>
              <a:gd name="adj" fmla="val 1576"/>
            </a:avLst>
          </a:prstGeom>
          <a:noFill/>
          <a:ln w="31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ko-KR" altLang="en-US" sz="1400">
              <a:solidFill>
                <a:srgbClr val="3333CC"/>
              </a:solidFill>
              <a:ea typeface="돋움" pitchFamily="50" charset="-127"/>
            </a:endParaRPr>
          </a:p>
        </p:txBody>
      </p:sp>
      <p:sp>
        <p:nvSpPr>
          <p:cNvPr id="16" name="모서리가 둥근 직사각형 60"/>
          <p:cNvSpPr/>
          <p:nvPr/>
        </p:nvSpPr>
        <p:spPr bwMode="auto">
          <a:xfrm>
            <a:off x="6511088" y="908720"/>
            <a:ext cx="3324792" cy="5570984"/>
          </a:xfrm>
          <a:prstGeom prst="roundRect">
            <a:avLst>
              <a:gd name="adj" fmla="val 1576"/>
            </a:avLst>
          </a:prstGeom>
          <a:noFill/>
          <a:ln w="31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ko-KR" altLang="en-US" sz="1400">
              <a:solidFill>
                <a:srgbClr val="3333CC"/>
              </a:solidFill>
              <a:ea typeface="돋움" pitchFamily="50" charset="-127"/>
            </a:endParaRPr>
          </a:p>
        </p:txBody>
      </p:sp>
      <p:sp>
        <p:nvSpPr>
          <p:cNvPr id="17" name="타원 73"/>
          <p:cNvSpPr/>
          <p:nvPr/>
        </p:nvSpPr>
        <p:spPr>
          <a:xfrm>
            <a:off x="677975" y="1820225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1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11088" y="1724615"/>
            <a:ext cx="33445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b="1" dirty="0">
                <a:latin typeface="맑은 고딕" pitchFamily="50" charset="-127"/>
                <a:ea typeface="맑은 고딕" pitchFamily="50" charset="-127"/>
              </a:rPr>
              <a:t>LGEPR </a:t>
            </a:r>
            <a:r>
              <a:rPr lang="es-PE" sz="1200" b="1" dirty="0" err="1">
                <a:latin typeface="맑은 고딕" pitchFamily="50" charset="-127"/>
                <a:ea typeface="맑은 고딕" pitchFamily="50" charset="-127"/>
              </a:rPr>
              <a:t>Sovos</a:t>
            </a:r>
            <a:r>
              <a:rPr lang="es-PE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s-PE" sz="1200" b="1" dirty="0" err="1">
                <a:latin typeface="맑은 고딕" pitchFamily="50" charset="-127"/>
                <a:ea typeface="맑은 고딕" pitchFamily="50" charset="-127"/>
              </a:rPr>
              <a:t>Invoice</a:t>
            </a:r>
            <a:r>
              <a:rPr lang="es-PE" sz="1200" b="1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s-PE" sz="1200" b="1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Formulario para búsqueda individual-.</a:t>
            </a:r>
            <a:endParaRPr lang="es-PE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 typeface="+mj-lt"/>
              <a:buAutoNum type="arabicPeriod"/>
            </a:pP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Mensaje </a:t>
            </a:r>
            <a:r>
              <a:rPr lang="es-PE" sz="1200" dirty="0" err="1" smtClean="0">
                <a:latin typeface="맑은 고딕" pitchFamily="50" charset="-127"/>
                <a:ea typeface="맑은 고딕" pitchFamily="50" charset="-127"/>
              </a:rPr>
              <a:t>success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 que indica que se encontró los documentos solicitados.</a:t>
            </a:r>
            <a:endParaRPr lang="es-PE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 typeface="+mj-lt"/>
              <a:buAutoNum type="arabicPeriod"/>
            </a:pP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Muestra el </a:t>
            </a:r>
            <a:r>
              <a:rPr lang="es-PE" sz="1200" dirty="0" err="1" smtClean="0">
                <a:latin typeface="맑은 고딕" pitchFamily="50" charset="-127"/>
                <a:ea typeface="맑은 고딕" pitchFamily="50" charset="-127"/>
              </a:rPr>
              <a:t>url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 del archivo PDF.</a:t>
            </a:r>
          </a:p>
          <a:p>
            <a:pPr marL="228600" indent="-228600">
              <a:buFont typeface="+mj-lt"/>
              <a:buAutoNum type="arabicPeriod"/>
            </a:pP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Muestra el </a:t>
            </a:r>
            <a:r>
              <a:rPr lang="es-PE" sz="1200" dirty="0" err="1" smtClean="0">
                <a:latin typeface="맑은 고딕" pitchFamily="50" charset="-127"/>
                <a:ea typeface="맑은 고딕" pitchFamily="50" charset="-127"/>
              </a:rPr>
              <a:t>url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 del archivo XML.</a:t>
            </a:r>
          </a:p>
          <a:p>
            <a:pPr marL="228600" indent="-228600">
              <a:buFont typeface="+mj-lt"/>
              <a:buAutoNum type="arabicPeriod"/>
            </a:pP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Botón para abrir el link del archivo PDF y poder descargarlo.</a:t>
            </a:r>
            <a:endParaRPr lang="es-PE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 typeface="+mj-lt"/>
              <a:buAutoNum type="arabicPeriod"/>
            </a:pP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Botón para abrir el link del archivo XML y descargarlo.</a:t>
            </a:r>
          </a:p>
          <a:p>
            <a:pPr marL="228600" indent="-228600">
              <a:buFont typeface="+mj-lt"/>
              <a:buAutoNum type="arabicPeriod"/>
            </a:pP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Oprimir botón para volver a solicitar otro número de documento.</a:t>
            </a:r>
            <a:endParaRPr lang="es-PE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타원 73"/>
          <p:cNvSpPr/>
          <p:nvPr/>
        </p:nvSpPr>
        <p:spPr>
          <a:xfrm>
            <a:off x="677976" y="4030031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2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타원 73"/>
          <p:cNvSpPr/>
          <p:nvPr/>
        </p:nvSpPr>
        <p:spPr>
          <a:xfrm>
            <a:off x="677976" y="4797152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3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타원 73"/>
          <p:cNvSpPr/>
          <p:nvPr/>
        </p:nvSpPr>
        <p:spPr>
          <a:xfrm>
            <a:off x="1928664" y="5630167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4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타원 73"/>
          <p:cNvSpPr/>
          <p:nvPr/>
        </p:nvSpPr>
        <p:spPr>
          <a:xfrm>
            <a:off x="3584848" y="5630167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5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타원 73"/>
          <p:cNvSpPr/>
          <p:nvPr/>
        </p:nvSpPr>
        <p:spPr>
          <a:xfrm>
            <a:off x="4956091" y="5630167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6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2874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999" y="1010717"/>
            <a:ext cx="4251226" cy="5362711"/>
          </a:xfrm>
          <a:prstGeom prst="rect">
            <a:avLst/>
          </a:prstGeom>
        </p:spPr>
      </p:pic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altLang="ko-KR" dirty="0" err="1"/>
              <a:t>Lgepr</a:t>
            </a:r>
            <a:r>
              <a:rPr lang="es-PE" altLang="ko-KR" dirty="0"/>
              <a:t> </a:t>
            </a:r>
            <a:r>
              <a:rPr lang="es-PE" altLang="ko-KR" dirty="0" err="1"/>
              <a:t>Sovos</a:t>
            </a:r>
            <a:r>
              <a:rPr lang="es-PE" altLang="ko-KR" dirty="0"/>
              <a:t> </a:t>
            </a:r>
            <a:r>
              <a:rPr lang="es-PE" altLang="ko-KR" dirty="0" err="1"/>
              <a:t>Invoice</a:t>
            </a:r>
            <a:endParaRPr lang="ko-KR" altLang="en-US" dirty="0"/>
          </a:p>
        </p:txBody>
      </p:sp>
      <p:sp>
        <p:nvSpPr>
          <p:cNvPr id="33" name="모서리가 둥근 직사각형 32"/>
          <p:cNvSpPr/>
          <p:nvPr/>
        </p:nvSpPr>
        <p:spPr bwMode="auto">
          <a:xfrm>
            <a:off x="85061" y="908720"/>
            <a:ext cx="6452115" cy="5566706"/>
          </a:xfrm>
          <a:prstGeom prst="roundRect">
            <a:avLst>
              <a:gd name="adj" fmla="val 1576"/>
            </a:avLst>
          </a:prstGeom>
          <a:noFill/>
          <a:ln w="31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ko-KR" altLang="en-US" sz="1400">
              <a:solidFill>
                <a:srgbClr val="3333CC"/>
              </a:solidFill>
              <a:ea typeface="돋움" pitchFamily="50" charset="-127"/>
            </a:endParaRPr>
          </a:p>
        </p:txBody>
      </p:sp>
      <p:sp>
        <p:nvSpPr>
          <p:cNvPr id="16" name="모서리가 둥근 직사각형 60"/>
          <p:cNvSpPr/>
          <p:nvPr/>
        </p:nvSpPr>
        <p:spPr bwMode="auto">
          <a:xfrm>
            <a:off x="6681192" y="908720"/>
            <a:ext cx="3154688" cy="5570984"/>
          </a:xfrm>
          <a:prstGeom prst="roundRect">
            <a:avLst>
              <a:gd name="adj" fmla="val 1576"/>
            </a:avLst>
          </a:prstGeom>
          <a:noFill/>
          <a:ln w="31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ko-KR" altLang="en-US" sz="1400">
              <a:solidFill>
                <a:srgbClr val="3333CC"/>
              </a:solidFill>
              <a:ea typeface="돋움" pitchFamily="50" charset="-127"/>
            </a:endParaRPr>
          </a:p>
        </p:txBody>
      </p:sp>
      <p:sp>
        <p:nvSpPr>
          <p:cNvPr id="17" name="타원 73"/>
          <p:cNvSpPr/>
          <p:nvPr/>
        </p:nvSpPr>
        <p:spPr>
          <a:xfrm>
            <a:off x="777150" y="1566307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1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53200" y="1724615"/>
            <a:ext cx="310247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b="1" dirty="0">
                <a:latin typeface="맑은 고딕" pitchFamily="50" charset="-127"/>
                <a:ea typeface="맑은 고딕" pitchFamily="50" charset="-127"/>
              </a:rPr>
              <a:t>LGEPR </a:t>
            </a:r>
            <a:r>
              <a:rPr lang="es-PE" sz="1200" b="1" dirty="0" err="1">
                <a:latin typeface="맑은 고딕" pitchFamily="50" charset="-127"/>
                <a:ea typeface="맑은 고딕" pitchFamily="50" charset="-127"/>
              </a:rPr>
              <a:t>Sovos</a:t>
            </a:r>
            <a:r>
              <a:rPr lang="es-PE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s-PE" sz="1200" b="1" dirty="0" err="1">
                <a:latin typeface="맑은 고딕" pitchFamily="50" charset="-127"/>
                <a:ea typeface="맑은 고딕" pitchFamily="50" charset="-127"/>
              </a:rPr>
              <a:t>Invoice</a:t>
            </a:r>
            <a:r>
              <a:rPr lang="es-PE" sz="1200" b="1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s-PE" sz="1200" b="1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Formulario para búsqueda masiva.</a:t>
            </a:r>
          </a:p>
          <a:p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Se deberá ingresar el número de documento inicial y final, donde se buscará todo los números que estén contenido entre ellos.</a:t>
            </a:r>
            <a:endParaRPr lang="es-PE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 typeface="+mj-lt"/>
              <a:buAutoNum type="arabicPeriod"/>
            </a:pP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Selector de tipo de documento a buscar dentro de 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SOVOS.</a:t>
            </a:r>
            <a:endParaRPr lang="es-PE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 typeface="+mj-lt"/>
              <a:buAutoNum type="arabicPeriod"/>
            </a:pP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Escribir el inicio del número de documento.</a:t>
            </a:r>
          </a:p>
          <a:p>
            <a:pPr marL="228600" indent="-228600">
              <a:buFont typeface="+mj-lt"/>
              <a:buAutoNum type="arabicPeriod"/>
            </a:pP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Escribir el fin del número de documento.</a:t>
            </a:r>
          </a:p>
          <a:p>
            <a:pPr marL="228600" indent="-228600">
              <a:buFont typeface="+mj-lt"/>
              <a:buAutoNum type="arabicPeriod"/>
            </a:pP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Dar </a:t>
            </a:r>
            <a:r>
              <a:rPr lang="es-PE" sz="1200" dirty="0" err="1" smtClean="0">
                <a:latin typeface="맑은 고딕" pitchFamily="50" charset="-127"/>
                <a:ea typeface="맑은 고딕" pitchFamily="50" charset="-127"/>
              </a:rPr>
              <a:t>click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 al botón </a:t>
            </a:r>
            <a:r>
              <a:rPr lang="es-PE" sz="1200" dirty="0" err="1" smtClean="0">
                <a:latin typeface="맑은 고딕" pitchFamily="50" charset="-127"/>
                <a:ea typeface="맑은 고딕" pitchFamily="50" charset="-127"/>
              </a:rPr>
              <a:t>start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s-PE" sz="1200" dirty="0" err="1" smtClean="0">
                <a:latin typeface="맑은 고딕" pitchFamily="50" charset="-127"/>
                <a:ea typeface="맑은 고딕" pitchFamily="50" charset="-127"/>
              </a:rPr>
              <a:t>processing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 para buscar el rango de documentos solicitado.</a:t>
            </a:r>
          </a:p>
        </p:txBody>
      </p:sp>
      <p:sp>
        <p:nvSpPr>
          <p:cNvPr id="14" name="타원 73"/>
          <p:cNvSpPr/>
          <p:nvPr/>
        </p:nvSpPr>
        <p:spPr>
          <a:xfrm>
            <a:off x="777149" y="3818914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2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타원 73"/>
          <p:cNvSpPr/>
          <p:nvPr/>
        </p:nvSpPr>
        <p:spPr>
          <a:xfrm>
            <a:off x="782215" y="4237332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3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타원 73"/>
          <p:cNvSpPr/>
          <p:nvPr/>
        </p:nvSpPr>
        <p:spPr>
          <a:xfrm>
            <a:off x="829367" y="5805264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4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3288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501" y="1639149"/>
            <a:ext cx="4963218" cy="4105848"/>
          </a:xfrm>
          <a:prstGeom prst="rect">
            <a:avLst/>
          </a:prstGeom>
        </p:spPr>
      </p:pic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altLang="ko-KR" dirty="0" err="1"/>
              <a:t>Lgepr</a:t>
            </a:r>
            <a:r>
              <a:rPr lang="es-PE" altLang="ko-KR" dirty="0"/>
              <a:t> </a:t>
            </a:r>
            <a:r>
              <a:rPr lang="es-PE" altLang="ko-KR" dirty="0" err="1"/>
              <a:t>Sovos</a:t>
            </a:r>
            <a:r>
              <a:rPr lang="es-PE" altLang="ko-KR" dirty="0"/>
              <a:t> </a:t>
            </a:r>
            <a:r>
              <a:rPr lang="es-PE" altLang="ko-KR" dirty="0" err="1"/>
              <a:t>Invoice</a:t>
            </a:r>
            <a:endParaRPr lang="ko-KR" altLang="en-US" dirty="0"/>
          </a:p>
        </p:txBody>
      </p:sp>
      <p:sp>
        <p:nvSpPr>
          <p:cNvPr id="33" name="모서리가 둥근 직사각형 32"/>
          <p:cNvSpPr/>
          <p:nvPr/>
        </p:nvSpPr>
        <p:spPr bwMode="auto">
          <a:xfrm>
            <a:off x="85061" y="908720"/>
            <a:ext cx="6308099" cy="5566706"/>
          </a:xfrm>
          <a:prstGeom prst="roundRect">
            <a:avLst>
              <a:gd name="adj" fmla="val 1576"/>
            </a:avLst>
          </a:prstGeom>
          <a:noFill/>
          <a:ln w="31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ko-KR" altLang="en-US" sz="1400">
              <a:solidFill>
                <a:srgbClr val="3333CC"/>
              </a:solidFill>
              <a:ea typeface="돋움" pitchFamily="50" charset="-127"/>
            </a:endParaRPr>
          </a:p>
        </p:txBody>
      </p:sp>
      <p:sp>
        <p:nvSpPr>
          <p:cNvPr id="16" name="모서리가 둥근 직사각형 60"/>
          <p:cNvSpPr/>
          <p:nvPr/>
        </p:nvSpPr>
        <p:spPr bwMode="auto">
          <a:xfrm>
            <a:off x="6511088" y="908720"/>
            <a:ext cx="3324792" cy="5570984"/>
          </a:xfrm>
          <a:prstGeom prst="roundRect">
            <a:avLst>
              <a:gd name="adj" fmla="val 1576"/>
            </a:avLst>
          </a:prstGeom>
          <a:noFill/>
          <a:ln w="31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ko-KR" altLang="en-US" sz="1400">
              <a:solidFill>
                <a:srgbClr val="3333CC"/>
              </a:solidFill>
              <a:ea typeface="돋움" pitchFamily="50" charset="-127"/>
            </a:endParaRPr>
          </a:p>
        </p:txBody>
      </p:sp>
      <p:sp>
        <p:nvSpPr>
          <p:cNvPr id="17" name="타원 73"/>
          <p:cNvSpPr/>
          <p:nvPr/>
        </p:nvSpPr>
        <p:spPr>
          <a:xfrm>
            <a:off x="469435" y="1988840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1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11088" y="1724615"/>
            <a:ext cx="334458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b="1" dirty="0">
                <a:latin typeface="맑은 고딕" pitchFamily="50" charset="-127"/>
                <a:ea typeface="맑은 고딕" pitchFamily="50" charset="-127"/>
              </a:rPr>
              <a:t>LGEPR </a:t>
            </a:r>
            <a:r>
              <a:rPr lang="es-PE" sz="1200" b="1" dirty="0" err="1">
                <a:latin typeface="맑은 고딕" pitchFamily="50" charset="-127"/>
                <a:ea typeface="맑은 고딕" pitchFamily="50" charset="-127"/>
              </a:rPr>
              <a:t>Sovos</a:t>
            </a:r>
            <a:r>
              <a:rPr lang="es-PE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s-PE" sz="1200" b="1" dirty="0" err="1">
                <a:latin typeface="맑은 고딕" pitchFamily="50" charset="-127"/>
                <a:ea typeface="맑은 고딕" pitchFamily="50" charset="-127"/>
              </a:rPr>
              <a:t>Invoice</a:t>
            </a:r>
            <a:r>
              <a:rPr lang="es-PE" sz="1200" b="1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s-PE" sz="1200" b="1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Buscará los archivos </a:t>
            </a:r>
            <a:r>
              <a:rPr lang="es-PE" sz="1200" dirty="0" err="1" smtClean="0">
                <a:latin typeface="맑은 고딕" pitchFamily="50" charset="-127"/>
                <a:ea typeface="맑은 고딕" pitchFamily="50" charset="-127"/>
              </a:rPr>
              <a:t>xml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 y </a:t>
            </a:r>
            <a:r>
              <a:rPr lang="es-PE" sz="1200" dirty="0" err="1" smtClean="0">
                <a:latin typeface="맑은 고딕" pitchFamily="50" charset="-127"/>
                <a:ea typeface="맑은 고딕" pitchFamily="50" charset="-127"/>
              </a:rPr>
              <a:t>pdf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 de cada valor que estén dentro del rango dado.</a:t>
            </a:r>
            <a:endParaRPr lang="es-PE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 typeface="+mj-lt"/>
              <a:buAutoNum type="arabicPeriod"/>
            </a:pP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Valor inicial.</a:t>
            </a:r>
            <a:endParaRPr lang="es-PE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 typeface="+mj-lt"/>
              <a:buAutoNum type="arabicPeriod"/>
            </a:pP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Valor final.</a:t>
            </a:r>
          </a:p>
          <a:p>
            <a:pPr marL="228600" indent="-228600">
              <a:buFont typeface="+mj-lt"/>
              <a:buAutoNum type="arabicPeriod"/>
            </a:pP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Botón que descargará un archivo </a:t>
            </a:r>
            <a:r>
              <a:rPr lang="es-PE" sz="1200" dirty="0" err="1" smtClean="0">
                <a:latin typeface="맑은 고딕" pitchFamily="50" charset="-127"/>
                <a:ea typeface="맑은 고딕" pitchFamily="50" charset="-127"/>
              </a:rPr>
              <a:t>zip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, el cual contendrá</a:t>
            </a:r>
            <a:r>
              <a:rPr lang="en-US" sz="12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sz="1200" dirty="0" err="1" smtClean="0">
                <a:latin typeface="맑은 고딕" pitchFamily="50" charset="-127"/>
                <a:ea typeface="맑은 고딕" pitchFamily="50" charset="-127"/>
              </a:rPr>
              <a:t>todo</a:t>
            </a:r>
            <a:r>
              <a:rPr lang="en-US" sz="1200" dirty="0" smtClean="0">
                <a:latin typeface="맑은 고딕" pitchFamily="50" charset="-127"/>
                <a:ea typeface="맑은 고딕" pitchFamily="50" charset="-127"/>
              </a:rPr>
              <a:t> los </a:t>
            </a:r>
            <a:r>
              <a:rPr lang="en-US" sz="1200" dirty="0" err="1" smtClean="0">
                <a:latin typeface="맑은 고딕" pitchFamily="50" charset="-127"/>
                <a:ea typeface="맑은 고딕" pitchFamily="50" charset="-127"/>
              </a:rPr>
              <a:t>archivos</a:t>
            </a:r>
            <a:r>
              <a:rPr lang="en-US" sz="1200" dirty="0" smtClean="0">
                <a:latin typeface="맑은 고딕" pitchFamily="50" charset="-127"/>
                <a:ea typeface="맑은 고딕" pitchFamily="50" charset="-127"/>
              </a:rPr>
              <a:t> pdf y xml </a:t>
            </a:r>
            <a:r>
              <a:rPr lang="en-US" sz="1200" dirty="0" err="1" smtClean="0">
                <a:latin typeface="맑은 고딕" pitchFamily="50" charset="-127"/>
                <a:ea typeface="맑은 고딕" pitchFamily="50" charset="-127"/>
              </a:rPr>
              <a:t>correspondientes</a:t>
            </a:r>
            <a:r>
              <a:rPr lang="en-US" sz="1200" dirty="0" smtClean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Oprimir botón para volver a solicitar otro rango de número de documento.</a:t>
            </a:r>
          </a:p>
          <a:p>
            <a:pPr marL="228600" indent="-228600">
              <a:buFont typeface="+mj-lt"/>
              <a:buAutoNum type="arabicPeriod"/>
            </a:pP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Muestra un mensaje que indica la </a:t>
            </a:r>
            <a:r>
              <a:rPr lang="es-PE" sz="1200" dirty="0" err="1" smtClean="0">
                <a:latin typeface="맑은 고딕" pitchFamily="50" charset="-127"/>
                <a:ea typeface="맑은 고딕" pitchFamily="50" charset="-127"/>
              </a:rPr>
              <a:t>cantidade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 archivos encontrados y la cantidad de números procesados.</a:t>
            </a:r>
            <a:endParaRPr lang="es-PE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타원 73"/>
          <p:cNvSpPr/>
          <p:nvPr/>
        </p:nvSpPr>
        <p:spPr>
          <a:xfrm>
            <a:off x="468135" y="2494807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2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타원 73"/>
          <p:cNvSpPr/>
          <p:nvPr/>
        </p:nvSpPr>
        <p:spPr>
          <a:xfrm>
            <a:off x="2576736" y="4077072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3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타원 73"/>
          <p:cNvSpPr/>
          <p:nvPr/>
        </p:nvSpPr>
        <p:spPr>
          <a:xfrm>
            <a:off x="3938886" y="4077072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4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타원 73"/>
          <p:cNvSpPr/>
          <p:nvPr/>
        </p:nvSpPr>
        <p:spPr>
          <a:xfrm>
            <a:off x="3134189" y="5657448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5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140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헤드라인M"/>
        <a:ea typeface="HY헤드라인M"/>
        <a:cs typeface=""/>
      </a:majorFont>
      <a:minorFont>
        <a:latin typeface="Arial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3175" cap="flat" cmpd="sng" algn="ctr">
          <a:solidFill>
            <a:srgbClr val="5F5F5F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Century Gothic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3175" cap="flat" cmpd="sng" algn="ctr">
          <a:solidFill>
            <a:srgbClr val="5F5F5F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Century Gothic" pitchFamily="34" charset="0"/>
            <a:ea typeface="굴림" pitchFamily="50" charset="-127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120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180642</TotalTime>
  <Words>334</Words>
  <Application>Microsoft Office PowerPoint</Application>
  <PresentationFormat>A4 Paper (210x297 mm)</PresentationFormat>
  <Paragraphs>61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맑은 고딕</vt:lpstr>
      <vt:lpstr>Arial</vt:lpstr>
      <vt:lpstr>Century Gothic</vt:lpstr>
      <vt:lpstr>돋움</vt:lpstr>
      <vt:lpstr>굴림</vt:lpstr>
      <vt:lpstr>HY헤드라인M</vt:lpstr>
      <vt:lpstr>1_기본 디자인</vt:lpstr>
      <vt:lpstr>Lgepr Sovos Invoice</vt:lpstr>
      <vt:lpstr>Lgepr Sovos Invoice</vt:lpstr>
      <vt:lpstr>Lgepr Sovos Invoice</vt:lpstr>
      <vt:lpstr>Lgepr Sovos Invoice</vt:lpstr>
      <vt:lpstr>Lgepr Sovos Invoice</vt:lpstr>
    </vt:vector>
  </TitlesOfParts>
  <Company>LG CNS Entrue Consulting Partners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CFO 정기업무보고</dc:title>
  <dc:creator>jeongweon.seo@lge.com</dc:creator>
  <cp:lastModifiedBy>lbernaldo js/LGEPR PI</cp:lastModifiedBy>
  <cp:revision>14457</cp:revision>
  <cp:lastPrinted>2015-07-07T07:24:52Z</cp:lastPrinted>
  <dcterms:created xsi:type="dcterms:W3CDTF">2003-07-01T00:36:00Z</dcterms:created>
  <dcterms:modified xsi:type="dcterms:W3CDTF">2025-11-04T21:00:02Z</dcterms:modified>
</cp:coreProperties>
</file>